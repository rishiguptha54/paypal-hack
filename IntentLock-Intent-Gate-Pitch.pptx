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eloper.paypal.com/agent-ready/overview" TargetMode="External"/><Relationship Id="rId3" Type="http://schemas.openxmlformats.org/officeDocument/2006/relationships/hyperlink" Target="https://developer.paypal.com/agentic-commerce-services/about/" TargetMode="External"/><Relationship Id="rId4" Type="http://schemas.openxmlformats.org/officeDocument/2006/relationships/hyperlink" Target="https://github.com/paypal/agent-toolkit" TargetMode="External"/><Relationship Id="rId5" Type="http://schemas.openxmlformats.org/officeDocument/2006/relationships/hyperlink" Target="https://www.trychannel3.com/developers/" TargetMode="External"/><Relationship Id="rId6" Type="http://schemas.openxmlformats.org/officeDocument/2006/relationships/hyperlink" Target="https://developers.googleblog.com/under-the-hood-universal-commerce-protocol-ucp/" TargetMode="External"/><Relationship Id="rId7" Type="http://schemas.openxmlformats.org/officeDocument/2006/relationships/hyperlink" Target="https://paypalaihackathon.devpost.com/rule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57984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6976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15968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59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3952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52944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31936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10928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9919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68911" y="0"/>
            <a:ext cx="7315" cy="6858000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051560"/>
            <a:ext cx="12191695" cy="7315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54679"/>
            <a:ext cx="12191695" cy="7315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06240"/>
            <a:ext cx="12191695" cy="7315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257800"/>
            <a:ext cx="12191695" cy="7315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309359"/>
            <a:ext cx="12191695" cy="7315"/>
          </a:xfrm>
          <a:prstGeom prst="rect">
            <a:avLst/>
          </a:prstGeom>
          <a:solidFill>
            <a:srgbClr val="15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0292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5029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93D2EE"/>
                </a:solidFill>
                <a:latin typeface="Aptos"/>
              </a:defRPr>
            </a:pPr>
            <a:r>
              <a:t>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457200"/>
            <a:ext cx="2798064" cy="329184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466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539496"/>
            <a:ext cx="2532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ptos"/>
              </a:defRPr>
            </a:pPr>
            <a:r>
              <a:t>PAYPAL AI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1600200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3D2EE"/>
                </a:solidFill>
                <a:latin typeface="Aptos"/>
              </a:defRPr>
            </a:pPr>
            <a:r>
              <a:t>A BUYER-SIDE POLICY LAYER FOR AGENTIC 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011680"/>
            <a:ext cx="7406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FFFFFF"/>
                </a:solidFill>
                <a:latin typeface="Aptos Display"/>
              </a:defRPr>
            </a:pPr>
            <a:r>
              <a:t>Keep the agent.</a:t>
            </a:r>
            <a:br/>
            <a:r>
              <a:t>Lock the intent.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3767328"/>
            <a:ext cx="914400" cy="50292"/>
          </a:xfrm>
          <a:prstGeom prst="rect">
            <a:avLst/>
          </a:prstGeom>
          <a:solidFill>
            <a:srgbClr val="F0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41648"/>
            <a:ext cx="7040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FFFFFF"/>
                </a:solidFill>
                <a:latin typeface="Aptos"/>
              </a:defRPr>
            </a:pPr>
            <a:r>
              <a:t>IntentLock checks the exact order against the user's confirmed terms before a PayPal Sandbox payment can be captured.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7790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93D2EE"/>
                </a:solidFill>
                <a:latin typeface="Aptos"/>
              </a:defRPr>
            </a:pPr>
            <a:r>
              <a:t>AI researches.     Code verifies.     People authorize.     PayPal processes.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6473952"/>
            <a:ext cx="6217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FFFFFF"/>
                </a:solidFill>
                <a:latin typeface="Aptos"/>
              </a:defRPr>
            </a:pPr>
            <a:r>
              <a:t>Concept and demo scope | October 2026</a:t>
            </a:r>
          </a:p>
        </p:txBody>
      </p:sp>
      <p:sp>
        <p:nvSpPr>
          <p:cNvPr id="29" name="Oval 28"/>
          <p:cNvSpPr/>
          <p:nvPr/>
        </p:nvSpPr>
        <p:spPr>
          <a:xfrm>
            <a:off x="9189720" y="2743200"/>
            <a:ext cx="1874519" cy="1874519"/>
          </a:xfrm>
          <a:prstGeom prst="ellipse">
            <a:avLst/>
          </a:prstGeom>
          <a:noFill/>
          <a:ln w="17780">
            <a:solidFill>
              <a:srgbClr val="24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77756" y="3031236"/>
            <a:ext cx="1298448" cy="1298448"/>
          </a:xfrm>
          <a:prstGeom prst="ellipse">
            <a:avLst/>
          </a:prstGeom>
          <a:noFill/>
          <a:ln w="17780">
            <a:solidFill>
              <a:srgbClr val="356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79508" y="3332988"/>
            <a:ext cx="694944" cy="694944"/>
          </a:xfrm>
          <a:prstGeom prst="ellipse">
            <a:avLst/>
          </a:prstGeom>
          <a:noFill/>
          <a:ln w="17780">
            <a:solidFill>
              <a:srgbClr val="52B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33009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575304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93D2EE"/>
                </a:solidFill>
                <a:latin typeface="Aptos"/>
              </a:defRPr>
            </a:pPr>
            <a:r>
              <a:t>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01 / THE CONTROL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A recommendation isn't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The user's request can be clear while the final order quietly drifts.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5001768" cy="3255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64008" cy="3255264"/>
          </a:xfrm>
          <a:prstGeom prst="rect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66777"/>
                </a:solidFill>
                <a:latin typeface="Aptos"/>
              </a:defRPr>
            </a:pPr>
            <a:r>
              <a:t>USER'S CONFIRMED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9152"/>
            <a:ext cx="41879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B1F3A"/>
                </a:solidFill>
                <a:latin typeface="Aptos Display"/>
              </a:defRPr>
            </a:pPr>
            <a:r>
              <a:t>“Buy two ergonomic chairs for the team. Keep the total under $400, use an approved seller, and do not add a subscription.”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553712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66777"/>
                </a:solidFill>
                <a:latin typeface="Aptos"/>
              </a:defRPr>
            </a:pPr>
            <a:r>
              <a:t>Illustrative demo scenario; not a market statistic.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1737360"/>
            <a:ext cx="5596128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25312" y="1737360"/>
            <a:ext cx="54864" cy="822960"/>
          </a:xfrm>
          <a:prstGeom prst="rect">
            <a:avLst/>
          </a:prstGeom>
          <a:solidFill>
            <a:srgbClr val="C13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8653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13F38"/>
                </a:solidFill>
                <a:latin typeface="Aptos"/>
              </a:defRPr>
            </a:pPr>
            <a:r>
              <a:t>PRICE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0273D"/>
                </a:solidFill>
                <a:latin typeface="Aptos"/>
              </a:defRPr>
            </a:pPr>
            <a:r>
              <a:t>The selected quantity pushes the total above the user’s limit.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2743200"/>
            <a:ext cx="5596128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25312" y="2743200"/>
            <a:ext cx="54864" cy="822960"/>
          </a:xfrm>
          <a:prstGeom prst="rect">
            <a:avLst/>
          </a:prstGeom>
          <a:solidFill>
            <a:srgbClr val="BB7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87121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BB7410"/>
                </a:solidFill>
                <a:latin typeface="Aptos"/>
              </a:defRPr>
            </a:pPr>
            <a:r>
              <a:t>SELLER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108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0273D"/>
                </a:solidFill>
                <a:latin typeface="Aptos"/>
              </a:defRPr>
            </a:pPr>
            <a:r>
              <a:t>A product page or redirect substitutes an unapproved seller.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25312" y="3749039"/>
            <a:ext cx="5596128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25312" y="3749039"/>
            <a:ext cx="54864" cy="822960"/>
          </a:xfrm>
          <a:prstGeom prst="rect">
            <a:avLst/>
          </a:prstGeom>
          <a:solidFill>
            <a:srgbClr val="C13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3877055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C13F38"/>
                </a:solidFill>
                <a:latin typeface="Aptos"/>
              </a:defRPr>
            </a:pPr>
            <a:r>
              <a:t>TERMS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114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0273D"/>
                </a:solidFill>
                <a:latin typeface="Aptos"/>
              </a:defRPr>
            </a:pPr>
            <a:r>
              <a:t>A recurring plan, add-on, or different quantity appears at checkout.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66944"/>
            <a:ext cx="10881360" cy="7132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468112"/>
            <a:ext cx="10287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Aptos Display"/>
              </a:defRPr>
            </a:pPr>
            <a:r>
              <a:t>IntentLock's job is not to make the agent smarter. It is to re-check what will actually be paid.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53912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66777"/>
                </a:solidFill>
                <a:latin typeface="Aptos"/>
              </a:defRPr>
            </a:pPr>
            <a:r>
              <a:t>Product thesis: authorization should bind to the transaction, not only the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02 /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IntentLock turns intent into a purchase mandate.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The user confirms structured rules. Deterministic code checks them against a server-owned order snapshot.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560320" cy="1947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560320" cy="54864"/>
          </a:xfrm>
          <a:prstGeom prst="rect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01 / 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3172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B1F3A"/>
                </a:solidFill>
                <a:latin typeface="Aptos Display"/>
              </a:defRPr>
            </a:pPr>
            <a:r>
              <a:t>AI proposes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852928"/>
            <a:ext cx="222199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66777"/>
                </a:solidFill>
                <a:latin typeface="Aptos"/>
              </a:defRPr>
            </a:pPr>
            <a:r>
              <a:t>Item, quantity, maximum total, allowed seller, recurring terms, and expiry.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1783080"/>
            <a:ext cx="2560320" cy="1947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1783080"/>
            <a:ext cx="2560320" cy="54864"/>
          </a:xfrm>
          <a:prstGeom prst="rect">
            <a:avLst/>
          </a:prstGeom>
          <a:solidFill>
            <a:srgbClr val="BB7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98424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BB7410"/>
                </a:solidFill>
                <a:latin typeface="Aptos"/>
              </a:defRPr>
            </a:pPr>
            <a:r>
              <a:t>02 /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33172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B1F3A"/>
                </a:solidFill>
                <a:latin typeface="Aptos Display"/>
              </a:defRPr>
            </a:pPr>
            <a:r>
              <a:t>User fixes the mandate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852928"/>
            <a:ext cx="222199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66777"/>
                </a:solidFill>
                <a:latin typeface="Aptos"/>
              </a:defRPr>
            </a:pPr>
            <a:r>
              <a:t>Ambiguity asks a question. No missing permission is silently invented.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83080"/>
            <a:ext cx="2560320" cy="1947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783080"/>
            <a:ext cx="2560320" cy="54864"/>
          </a:xfrm>
          <a:prstGeom prst="rect">
            <a:avLst/>
          </a:prstGeom>
          <a:solidFill>
            <a:srgbClr val="18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98424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835A"/>
                </a:solidFill>
                <a:latin typeface="Aptos"/>
              </a:defRPr>
            </a:pPr>
            <a:r>
              <a:t>03 /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33172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B1F3A"/>
                </a:solidFill>
                <a:latin typeface="Aptos Display"/>
              </a:defRPr>
            </a:pPr>
            <a:r>
              <a:t>Code checks the final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852928"/>
            <a:ext cx="222199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66777"/>
                </a:solidFill>
                <a:latin typeface="Aptos"/>
              </a:defRPr>
            </a:pPr>
            <a:r>
              <a:t>Recalculate from trusted data; unknown fields fail closed.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1" y="1783080"/>
            <a:ext cx="2560320" cy="1947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7111" y="1783080"/>
            <a:ext cx="2560320" cy="5486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198424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B1F3A"/>
                </a:solidFill>
                <a:latin typeface="Aptos"/>
              </a:defRPr>
            </a:pPr>
            <a:r>
              <a:t>04 / AUTHORIZE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331720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B1F3A"/>
                </a:solidFill>
                <a:latin typeface="Aptos Display"/>
              </a:defRPr>
            </a:pPr>
            <a:r>
              <a:t>PayPal completes checkout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2852928"/>
            <a:ext cx="222199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66777"/>
                </a:solidFill>
                <a:latin typeface="Aptos"/>
              </a:defRPr>
            </a:pPr>
            <a:r>
              <a:t>Buyer approves in PayPal. Backend re-checks policy before capture.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23360"/>
            <a:ext cx="528523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023360"/>
            <a:ext cx="54864" cy="1353312"/>
          </a:xfrm>
          <a:prstGeom prst="rect">
            <a:avLst/>
          </a:prstGeom>
          <a:solidFill>
            <a:srgbClr val="18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4151376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B1F3A"/>
                </a:solidFill>
                <a:latin typeface="Aptos Display"/>
              </a:defRPr>
            </a:pPr>
            <a:r>
              <a:t>Wedge to demonstrate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4507992"/>
            <a:ext cx="49560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66777"/>
                </a:solidFill>
                <a:latin typeface="Aptos"/>
              </a:defRPr>
            </a:pPr>
            <a:r>
              <a:t>Buyer-side checkpoint binds a confirmed mandate to one specific order and invalidates approval when protected fields change.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023360"/>
            <a:ext cx="537667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4023360"/>
            <a:ext cx="54864" cy="1353312"/>
          </a:xfrm>
          <a:prstGeom prst="rect">
            <a:avLst/>
          </a:prstGeom>
          <a:solidFill>
            <a:srgbClr val="BB7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4151376"/>
            <a:ext cx="5065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B1F3A"/>
                </a:solidFill>
                <a:latin typeface="Aptos Display"/>
              </a:defRPr>
            </a:pPr>
            <a:r>
              <a:t>Scope we will not overclaim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507992"/>
            <a:ext cx="50474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66777"/>
                </a:solidFill>
                <a:latin typeface="Aptos"/>
              </a:defRPr>
            </a:pPr>
            <a:r>
              <a:t>Not a new payment rail or a replacement for PayPal Agent Ready / commerce protocols. No absolute claim that comparable policy products do not exist.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70448"/>
            <a:ext cx="9418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66777"/>
                </a:solidFill>
                <a:latin typeface="Aptos"/>
              </a:defRPr>
            </a:pPr>
            <a:r>
              <a:t>Novelty is a product hypothesis to test, not an absolute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03 /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The policy check sits directly before capture.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A precise state transition makes the PayPal integration central and the guardrail testable.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9933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719072"/>
            <a:ext cx="310896" cy="310896"/>
          </a:xfrm>
          <a:prstGeom prst="ellipse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92224"/>
            <a:ext cx="31089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9456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88336"/>
            <a:ext cx="1691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User states constraints in plain language.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06040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877C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874519"/>
            <a:ext cx="19933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0088" y="1719072"/>
            <a:ext cx="310896" cy="310896"/>
          </a:xfrm>
          <a:prstGeom prst="ellipse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1792224"/>
            <a:ext cx="31089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19456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MANDATE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688336"/>
            <a:ext cx="1691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AI returns validated fields; user confirms or clarifies.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2606040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877C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874519"/>
            <a:ext cx="19933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0" y="1719072"/>
            <a:ext cx="310896" cy="310896"/>
          </a:xfrm>
          <a:prstGeom prst="ellipse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792224"/>
            <a:ext cx="31089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19456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688336"/>
            <a:ext cx="1691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Channel3 search returns candidates; app snapshots observed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2606040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877C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6056" y="1874519"/>
            <a:ext cx="19933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4072" y="1719072"/>
            <a:ext cx="310896" cy="310896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1792224"/>
            <a:ext cx="31089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19456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B1F3A"/>
                </a:solidFill>
                <a:latin typeface="Aptos"/>
              </a:defRPr>
            </a:pPr>
            <a:r>
              <a:t>PAYPAL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688336"/>
            <a:ext cx="1691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Create Sandbox order; buyer approves the PayPal checkout.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2606040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877C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1874519"/>
            <a:ext cx="19933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56064" y="1719072"/>
            <a:ext cx="310896" cy="310896"/>
          </a:xfrm>
          <a:prstGeom prst="ellipse">
            <a:avLst/>
          </a:prstGeom>
          <a:solidFill>
            <a:srgbClr val="18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6064" y="1792224"/>
            <a:ext cx="31089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219456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8835A"/>
                </a:solidFill>
                <a:latin typeface="Aptos"/>
              </a:defRPr>
            </a:pPr>
            <a:r>
              <a:t>RE-CHECK + CAPTURE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688336"/>
            <a:ext cx="1691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Backend verifies order-to-mandate match, then captures and records PayPal’s response.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343400"/>
            <a:ext cx="5285232" cy="1024128"/>
          </a:xfrm>
          <a:prstGeom prst="roundRect">
            <a:avLst/>
          </a:prstGeom>
          <a:solidFill>
            <a:srgbClr val="E6F2FB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343400"/>
            <a:ext cx="54864" cy="1024128"/>
          </a:xfrm>
          <a:prstGeom prst="rect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" y="4471416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B1F3A"/>
                </a:solidFill>
                <a:latin typeface="Aptos Display"/>
              </a:defRPr>
            </a:pPr>
            <a:r>
              <a:t>INTENTLOCK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4828032"/>
            <a:ext cx="49560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566777"/>
                </a:solidFill>
                <a:latin typeface="Aptos"/>
              </a:defRPr>
            </a:pPr>
            <a:r>
              <a:t>Reject changed item, seller, quantity, total, currency, or recurring terms. Expire stale approval.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4343400"/>
            <a:ext cx="5376672" cy="1024128"/>
          </a:xfrm>
          <a:prstGeom prst="roundRect">
            <a:avLst/>
          </a:prstGeom>
          <a:solidFill>
            <a:srgbClr val="E9F5E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44768" y="4343400"/>
            <a:ext cx="54864" cy="1024128"/>
          </a:xfrm>
          <a:prstGeom prst="rect">
            <a:avLst/>
          </a:prstGeom>
          <a:solidFill>
            <a:srgbClr val="18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4471416"/>
            <a:ext cx="5065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B1F3A"/>
                </a:solidFill>
                <a:latin typeface="Aptos Display"/>
              </a:defRPr>
            </a:pPr>
            <a:r>
              <a:t>PAYPAL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4828032"/>
            <a:ext cx="504748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566777"/>
                </a:solidFill>
                <a:latin typeface="Aptos"/>
              </a:defRPr>
            </a:pPr>
            <a:r>
              <a:t>Buyer authorization remains in PayPal Checkout. A browser redirect alone never means payment succeeded.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806440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66777"/>
                </a:solidFill>
                <a:latin typeface="Aptos"/>
              </a:defRPr>
            </a:pPr>
            <a:r>
              <a:t>Orders v2 Sandbox flow; verify exact current SDK/API behavior during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04 / THE DEMO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Same request. Three offers. One safe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Show the policy decision, mutate the browser value, then prove the backend still rejects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4096512" cy="3931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28800"/>
            <a:ext cx="38679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ptos"/>
              </a:defRPr>
            </a:pPr>
            <a:r>
              <a:t>OFFER SNAPSHOT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4024" y="1700784"/>
            <a:ext cx="3931920" cy="3931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828800"/>
            <a:ext cx="3703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ptos"/>
              </a:defRPr>
            </a:pPr>
            <a:r>
              <a:t>EXACT POLICY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1700784"/>
            <a:ext cx="2770632" cy="3931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33104" y="1828800"/>
            <a:ext cx="2542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93976"/>
            <a:ext cx="409651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2 x chair at $149 / approved seller / one-time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4024" y="2093976"/>
            <a:ext cx="39319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203704"/>
            <a:ext cx="3712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$298 total; seller allowed; no recurring terms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5088" y="2093976"/>
            <a:ext cx="277063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203704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835A"/>
                </a:solidFill>
                <a:latin typeface="Aptos"/>
              </a:defRPr>
            </a:pPr>
            <a:r>
              <a:t>ALLOW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697480"/>
            <a:ext cx="4096512" cy="594360"/>
          </a:xfrm>
          <a:prstGeom prst="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07208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2 x chair at $229 / approved seller / one-time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4024" y="2697480"/>
            <a:ext cx="3931920" cy="594360"/>
          </a:xfrm>
          <a:prstGeom prst="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2807208"/>
            <a:ext cx="3712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$458 total exceeds $400 mandate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05088" y="2697480"/>
            <a:ext cx="2770632" cy="594360"/>
          </a:xfrm>
          <a:prstGeom prst="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2807208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C13F38"/>
                </a:solidFill>
                <a:latin typeface="Aptos"/>
              </a:defRPr>
            </a:pPr>
            <a:r>
              <a:t>BLOCK  OVER_BUDGET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00984"/>
            <a:ext cx="409651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410712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Chair plus $99 care plan / approved seller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4024" y="3300984"/>
            <a:ext cx="39319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3410712"/>
            <a:ext cx="3712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Recurring terms were not authorized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05088" y="3300984"/>
            <a:ext cx="277063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410712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C13F38"/>
                </a:solidFill>
                <a:latin typeface="Aptos"/>
              </a:defRPr>
            </a:pPr>
            <a:r>
              <a:t>BLOCK  RECURRING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904487"/>
            <a:ext cx="4096512" cy="594360"/>
          </a:xfrm>
          <a:prstGeom prst="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014215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Price missing or seller cannot be verified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4024" y="3904487"/>
            <a:ext cx="3931920" cy="594360"/>
          </a:xfrm>
          <a:prstGeom prst="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2896" y="4014215"/>
            <a:ext cx="37124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10273D"/>
                </a:solidFill>
                <a:latin typeface="Aptos"/>
              </a:defRPr>
            </a:pPr>
            <a:r>
              <a:t>Required authorization fields are unknown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05088" y="3904487"/>
            <a:ext cx="2770632" cy="594360"/>
          </a:xfrm>
          <a:prstGeom prst="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4014215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BB7410"/>
                </a:solidFill>
                <a:latin typeface="Aptos"/>
              </a:defRPr>
            </a:pPr>
            <a:r>
              <a:t>REVIEW  UNKNOWN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754880"/>
            <a:ext cx="528523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754880"/>
            <a:ext cx="54864" cy="1033271"/>
          </a:xfrm>
          <a:prstGeom prst="rect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4882896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B1F3A"/>
                </a:solidFill>
                <a:latin typeface="Aptos Display"/>
              </a:defRPr>
            </a:pPr>
            <a:r>
              <a:t>MEMORABLE PROOF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5239512"/>
            <a:ext cx="4956048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Edit the client total to $1. Server reloads its trusted snapshot, recalculates $458, and refuses capture.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4754880"/>
            <a:ext cx="533095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44768" y="4754880"/>
            <a:ext cx="54864" cy="1033271"/>
          </a:xfrm>
          <a:prstGeom prst="rect">
            <a:avLst/>
          </a:prstGeom>
          <a:solidFill>
            <a:srgbClr val="18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59" y="4882896"/>
            <a:ext cx="50200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B1F3A"/>
                </a:solidFill>
                <a:latin typeface="Aptos Display"/>
              </a:defRPr>
            </a:pPr>
            <a:r>
              <a:t>HONEST 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5239512"/>
            <a:ext cx="5001768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Use clearly labeled Channel3 results or fixtures. PayPal Sandbox proves payment integration, not external fulfillment.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961888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1">
                <a:solidFill>
                  <a:srgbClr val="566777"/>
                </a:solidFill>
                <a:latin typeface="Aptos"/>
              </a:defRPr>
            </a:pPr>
            <a:r>
              <a:t>Prices and offers are illustrative test fixtures, not live quotes or measured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05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AI proposes. Backend owns the authorization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Every external response is normalized; every payment action references an approved, persisted purchase.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108960" cy="1764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108960" cy="64008"/>
          </a:xfrm>
          <a:prstGeom prst="rect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1"/>
            <a:ext cx="2761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AI + PRODUCT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1460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566777"/>
                </a:solidFill>
                <a:latin typeface="Aptos"/>
              </a:defRPr>
            </a:pPr>
            <a:r>
              <a:t>Extract structured mandate</a:t>
            </a:r>
            <a:br/>
            <a:r>
              <a:t>Channel3 search adapter</a:t>
            </a:r>
            <a:br/>
            <a:r>
              <a:t>Untrusted text stays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874519"/>
            <a:ext cx="3108960" cy="1764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1874519"/>
            <a:ext cx="3108960" cy="64008"/>
          </a:xfrm>
          <a:prstGeom prst="rect">
            <a:avLst/>
          </a:prstGeom>
          <a:solidFill>
            <a:srgbClr val="18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084831"/>
            <a:ext cx="2761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8835A"/>
                </a:solidFill>
                <a:latin typeface="Aptos"/>
              </a:defRPr>
            </a:pPr>
            <a:r>
              <a:t>INTENTLOCK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51460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566777"/>
                </a:solidFill>
                <a:latin typeface="Aptos"/>
              </a:defRPr>
            </a:pPr>
            <a:r>
              <a:t>Runtime schema validation</a:t>
            </a:r>
            <a:br/>
            <a:r>
              <a:t>Deterministic rule evaluation</a:t>
            </a:r>
            <a:br/>
            <a:r>
              <a:t>Persist snapshot +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9912" y="1874519"/>
            <a:ext cx="3108960" cy="1764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9912" y="1874519"/>
            <a:ext cx="3108960" cy="640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2084831"/>
            <a:ext cx="2761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B1F3A"/>
                </a:solidFill>
                <a:latin typeface="Aptos"/>
              </a:defRPr>
            </a:pPr>
            <a:r>
              <a:t>PAYPAL 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51460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566777"/>
                </a:solidFill>
                <a:latin typeface="Aptos"/>
              </a:defRPr>
            </a:pPr>
            <a:r>
              <a:t>Orders API create</a:t>
            </a:r>
            <a:br/>
            <a:r>
              <a:t>Buyer checkout approval</a:t>
            </a:r>
            <a:br/>
            <a:r>
              <a:t>Server re-check +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254203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877C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6136" y="254203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877C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528523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54864" cy="960120"/>
          </a:xfrm>
          <a:prstGeom prst="rect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059935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B1F3A"/>
                </a:solidFill>
                <a:latin typeface="Aptos Display"/>
              </a:defRPr>
            </a:pPr>
            <a:r>
              <a:t>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416552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React + TypeScript / Node + Express / Zod / PostgreSQL / PayPal Orders v2 / AG Grid Community.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3931920"/>
            <a:ext cx="533095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3931920"/>
            <a:ext cx="54864" cy="960120"/>
          </a:xfrm>
          <a:prstGeom prst="rect">
            <a:avLst/>
          </a:prstGeom>
          <a:solidFill>
            <a:srgbClr val="C13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059935"/>
            <a:ext cx="50200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B1F3A"/>
                </a:solidFill>
                <a:latin typeface="Aptos Display"/>
              </a:defRPr>
            </a:pPr>
            <a:r>
              <a:t>HARD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416552"/>
            <a:ext cx="5001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No model-controlled capture; no trusted client total; private credentials; idempotent operations; status verified from PayPal.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48072"/>
            <a:ext cx="10835640" cy="594360"/>
          </a:xfrm>
          <a:prstGeom prst="roundRect">
            <a:avLst/>
          </a:prstGeom>
          <a:solidFill>
            <a:srgbClr val="FBF2DF"/>
          </a:solidFill>
          <a:ln w="10160">
            <a:solidFill>
              <a:srgbClr val="BB7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0273D"/>
                </a:solidFill>
                <a:latin typeface="Aptos"/>
              </a:defRPr>
            </a:pPr>
            <a:r>
              <a:t>CHANNEL3 CHECKOUT: public docs mark “Coming soon” / early access. Use Channel3 for discovery only; demo payment is the app’s PayPal Sandbox order.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61888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Unknown seller, price, recurrence, or order mapping means review/block, never implicit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06 / SPONSOR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Use sponsor tools where they improve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One primary sponsor-prize focus; no integration is added just to decorate the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4864" cy="658368"/>
          </a:xfrm>
          <a:prstGeom prst="rect">
            <a:avLst/>
          </a:prstGeom>
          <a:solidFill>
            <a:srgbClr val="18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4767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835A"/>
                </a:solidFill>
                <a:latin typeface="Aptos"/>
              </a:defRPr>
            </a:pPr>
            <a:r>
              <a:t>AG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1883664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Primary sponsor focus: sortable, filterable decision/payment ledger; inspect evidence behind each allow/block.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8944" y="1911095"/>
            <a:ext cx="1426464" cy="274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12096" y="1993391"/>
            <a:ext cx="12801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10273D"/>
                </a:solidFill>
                <a:latin typeface="Aptos"/>
              </a:defRPr>
            </a:pPr>
            <a:r>
              <a:t>CORE 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96312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96312"/>
            <a:ext cx="54864" cy="658368"/>
          </a:xfrm>
          <a:prstGeom prst="rect">
            <a:avLst/>
          </a:prstGeom>
          <a:solidFill>
            <a:srgbClr val="BB7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066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BB7410"/>
                </a:solidFill>
                <a:latin typeface="Aptos"/>
              </a:defRPr>
            </a:pPr>
            <a:r>
              <a:t>CHANNEL3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2642616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Product search / lookup supplies offer candidates. Keep checkout out of scope unless access is granted.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38944" y="2670048"/>
            <a:ext cx="1426464" cy="274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2096" y="2752344"/>
            <a:ext cx="12801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10273D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55263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55263"/>
            <a:ext cx="54864" cy="658368"/>
          </a:xfrm>
          <a:prstGeom prst="rect">
            <a:avLst/>
          </a:prstGeom>
          <a:solidFill>
            <a:srgbClr val="08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465575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1" y="3401568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Host the web demo and backend; store secrets server-side and verify persistence after restart.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38944" y="3428999"/>
            <a:ext cx="1426464" cy="274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3511296"/>
            <a:ext cx="12801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1027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14215"/>
            <a:ext cx="10881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14215"/>
            <a:ext cx="54864" cy="6583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22452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B1F3A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1" y="4160520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Publish a collection for policy, order, and webhook smoke tests judges can reproduce.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38944" y="4187952"/>
            <a:ext cx="1426464" cy="274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2096" y="4270248"/>
            <a:ext cx="12801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10273D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983480"/>
            <a:ext cx="10881360" cy="850392"/>
          </a:xfrm>
          <a:prstGeom prst="roundRect">
            <a:avLst/>
          </a:prstGeom>
          <a:solidFill>
            <a:srgbClr val="FBF2DF"/>
          </a:solidFill>
          <a:ln w="10160">
            <a:solidFill>
              <a:srgbClr val="BB7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138928"/>
            <a:ext cx="1051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BB7410"/>
                </a:solidFill>
                <a:latin typeface="Aptos"/>
              </a:defRPr>
            </a:pPr>
            <a:r>
              <a:t>PRIZE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093208"/>
            <a:ext cx="9281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0273D"/>
                </a:solidFill>
                <a:latin typeface="Aptos"/>
              </a:defRPr>
            </a:pPr>
            <a:r>
              <a:t>Official rules allow at most one Sponsor Prize with one Grand Prize or one Honorable Mention. Use AG Grid deeply and choose one sponsor category.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053328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AG Grid Community is sufficient for this ledger; avoid Enterprise-only features without confirmed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07 / BUILD AND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De-risk checkout first; measure the guardrail, not the hype.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A narrow working system is more persuasive than a broad mockup.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541264" cy="4325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74519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GATE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56231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PayPal vertical slice. Create, buyer-approve, capture, and reconcile one Sandbox order before agent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2743200"/>
            <a:ext cx="50292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4378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GATE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825496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Policy core. Schema, clarification, deterministic evaluation, approval binding, mutation/retry tests.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712463"/>
            <a:ext cx="50292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130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GATE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94760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Real discovery + ledger. Check Channel3 access; integrate search if available, otherwise label fixtures. Add AG Grid and deploy.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681728"/>
            <a:ext cx="50292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7823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GATE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764024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66777"/>
                </a:solidFill>
                <a:latin typeface="Aptos"/>
              </a:defRPr>
            </a:pPr>
            <a:r>
              <a:t>Judge-ready demo. Re-run from clean setup; record the real flow; publish source links and secure test instructions.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700784"/>
            <a:ext cx="5102352" cy="813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1700784"/>
            <a:ext cx="54864" cy="813816"/>
          </a:xfrm>
          <a:prstGeom prst="rect">
            <a:avLst/>
          </a:prstGeom>
          <a:solidFill>
            <a:srgbClr val="C13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828800"/>
            <a:ext cx="4480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C13F38"/>
                </a:solidFill>
                <a:latin typeface="Aptos"/>
              </a:defRPr>
            </a:pPr>
            <a:r>
              <a:t>PAYPAL AGENT READY / ACS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048256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66777"/>
                </a:solidFill>
                <a:latin typeface="Aptos"/>
              </a:defRPr>
            </a:pPr>
            <a:r>
              <a:t>Adjacent and potentially overlapping. Position IntentLock as an independent policy checkpoint; do not claim replacement.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642616"/>
            <a:ext cx="5102352" cy="813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2642616"/>
            <a:ext cx="54864" cy="813816"/>
          </a:xfrm>
          <a:prstGeom prst="rect">
            <a:avLst/>
          </a:prstGeom>
          <a:solidFill>
            <a:srgbClr val="C13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770632"/>
            <a:ext cx="4480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C13F38"/>
                </a:solidFill>
                <a:latin typeface="Aptos"/>
              </a:defRPr>
            </a:pPr>
            <a:r>
              <a:t>GATED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90088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566777"/>
                </a:solidFill>
                <a:latin typeface="Aptos"/>
              </a:defRPr>
            </a:pPr>
            <a:r>
              <a:t>PayPal Agentic Commerce Services require onboarding; Channel3 checkout is early access. Neither is a P0 dependency.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703320"/>
            <a:ext cx="5102352" cy="23134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922776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3D2EE"/>
                </a:solidFill>
                <a:latin typeface="Aptos"/>
              </a:defRPr>
            </a:pPr>
            <a:r>
              <a:t>MEASURE AND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315968"/>
            <a:ext cx="9326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ptos"/>
              </a:defRPr>
            </a:pPr>
            <a:r>
              <a:t>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315968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Allow / block / review scenarios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809744"/>
            <a:ext cx="9326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4809744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Changed-order and retry cases reject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303520"/>
            <a:ext cx="9326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530352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Sandbox state matches PayPal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117336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1">
                <a:solidFill>
                  <a:srgbClr val="566777"/>
                </a:solidFill>
                <a:latin typeface="Aptos"/>
              </a:defRPr>
            </a:pPr>
            <a:r>
              <a:t>No invented market size, win-rate lift, or savings claims.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877C9"/>
                </a:solidFill>
                <a:latin typeface="Aptos"/>
              </a:defRPr>
            </a:pPr>
            <a:r>
              <a:t>08 / RESEARCH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B1F3A"/>
                </a:solidFill>
                <a:latin typeface="Aptos Display"/>
              </a:defRPr>
            </a:pPr>
            <a:r>
              <a:t>Build on what exists. Be precise about what is new.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66777"/>
                </a:solidFill>
                <a:latin typeface="Aptos"/>
              </a:defRPr>
            </a:pPr>
            <a:r>
              <a:t>Official documentation and hackathon rules checked October 22,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0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66777"/>
                </a:solidFill>
                <a:latin typeface="Aptos"/>
              </a:defRPr>
            </a:pPr>
            <a: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6539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0273D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193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PayPal Agent Ready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Protocols, AI surfaces, and merchant integration paths; updated Oct. 13,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31136"/>
            <a:ext cx="5257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10273D"/>
                </a:solidFill>
                <a:latin typeface="Aptos"/>
              </a:defRPr>
            </a:pPr>
            <a:r>
              <a:rPr>
                <a:hlinkClick r:id="rId2"/>
              </a:rPr>
              <a:t>https://developer.paypal.com/agent-ready/overview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27632"/>
            <a:ext cx="5193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PayPal Agentic Commerce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Discovery, carts, purchases; merchant access requires onboarding.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31136"/>
            <a:ext cx="5257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10273D"/>
                </a:solidFill>
                <a:latin typeface="Aptos"/>
              </a:defRPr>
            </a:pPr>
            <a:r>
              <a:rPr>
                <a:hlinkClick r:id="rId3"/>
              </a:rPr>
              <a:t>https://developer.paypal.com/agentic-commerce-services/about/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60320"/>
            <a:ext cx="5193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PayPal Agent Toolkit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07208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Framework tools for PayPal APIs, including order/payment operations.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63824"/>
            <a:ext cx="5257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10273D"/>
                </a:solidFill>
                <a:latin typeface="Aptos"/>
              </a:defRPr>
            </a:pPr>
            <a:r>
              <a:rPr>
                <a:hlinkClick r:id="rId4"/>
              </a:rPr>
              <a:t>https://github.com/paypal/agent-toolkit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60320"/>
            <a:ext cx="5193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Channel3 for Developers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07208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Search/lookup documented; checkout is coming soon / early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63824"/>
            <a:ext cx="5257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10273D"/>
                </a:solidFill>
                <a:latin typeface="Aptos"/>
              </a:defRPr>
            </a:pPr>
            <a:r>
              <a:rPr>
                <a:hlinkClick r:id="rId5"/>
              </a:rPr>
              <a:t>https://www.trychannel3.com/developers/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93008"/>
            <a:ext cx="5193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Google: Universal Commerce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39896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Open protocol for discovery, checkout, and order management.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96512"/>
            <a:ext cx="5257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10273D"/>
                </a:solidFill>
                <a:latin typeface="Aptos"/>
              </a:defRPr>
            </a:pPr>
            <a:r>
              <a:rPr>
                <a:hlinkClick r:id="rId6"/>
              </a:rPr>
              <a:t>https://developers.googleblog.com/under-the-hood-universal-commerce-protocol-ucp/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93008"/>
            <a:ext cx="5193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877C9"/>
                </a:solidFill>
                <a:latin typeface="Aptos"/>
              </a:defRPr>
            </a:pPr>
            <a:r>
              <a:t>PayPal AI Hackathon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39896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66777"/>
                </a:solidFill>
                <a:latin typeface="Aptos"/>
              </a:defRPr>
            </a:pPr>
            <a:r>
              <a:t>Functional demo, judging criteria, sponsor tools, and prize eligibility limits.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96512"/>
            <a:ext cx="5257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10273D"/>
                </a:solidFill>
                <a:latin typeface="Aptos"/>
              </a:defRPr>
            </a:pPr>
            <a:r>
              <a:rPr>
                <a:hlinkClick r:id="rId7"/>
              </a:rPr>
              <a:t>https://paypalaihackathon.devpost.com/rules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17720"/>
            <a:ext cx="10863072" cy="80467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846320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Aptos Display"/>
              </a:defRPr>
            </a:pPr>
            <a:r>
              <a:t>IntentLock does not grant an agent more power. It makes every purchase prove it stayed inside the user's intent.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05856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66777"/>
                </a:solidFill>
                <a:latin typeface="Aptos"/>
              </a:defRPr>
            </a:pPr>
            <a:r>
              <a:t>Product hypothesis | Testable demo | Honest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IntentLock: The Intent Gate</dc:title>
  <dc:subject>PayPal AI Hackathon 2026 pitch deck</dc:subject>
  <dc:creator>IntentLock team</dc:creator>
  <cp:keywords>IntentLock, PayPal, agentic commerce, authorization,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